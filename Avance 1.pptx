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8288000" cy="10287000"/>
  <p:notesSz cx="6858000" cy="9144000"/>
  <p:embeddedFontLst>
    <p:embeddedFont>
      <p:font typeface="Alfa Slab One" panose="020B0604020202020204" charset="0"/>
      <p:regular r:id="rId8"/>
    </p:embeddedFont>
    <p:embeddedFont>
      <p:font typeface="Hind Jalandhar" panose="02000000000000000000" pitchFamily="2" charset="0"/>
      <p:regular r:id="rId9"/>
    </p:embeddedFont>
    <p:embeddedFont>
      <p:font typeface="Hind Jalandhar Bold" panose="020B0604020202020204" charset="0"/>
      <p:regular r:id="rId1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1" d="100"/>
          <a:sy n="51" d="100"/>
        </p:scale>
        <p:origin x="878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1.fntdata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font" Target="fonts/font2.fntdata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7" Type="http://schemas.openxmlformats.org/officeDocument/2006/relationships/image" Target="../media/image6.png"/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4.svg"/><Relationship Id="rId7" Type="http://schemas.openxmlformats.org/officeDocument/2006/relationships/image" Target="../media/image7.png"/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7" Type="http://schemas.openxmlformats.org/officeDocument/2006/relationships/image" Target="../media/image9.png"/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6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1786844" y="-2012990"/>
            <a:ext cx="7054045" cy="6304553"/>
          </a:xfrm>
          <a:custGeom>
            <a:avLst/>
            <a:gdLst/>
            <a:ahLst/>
            <a:cxnLst/>
            <a:rect l="l" t="t" r="r" b="b"/>
            <a:pathLst>
              <a:path w="7054045" h="6304553">
                <a:moveTo>
                  <a:pt x="0" y="0"/>
                </a:moveTo>
                <a:lnTo>
                  <a:pt x="7054045" y="0"/>
                </a:lnTo>
                <a:lnTo>
                  <a:pt x="7054045" y="6304552"/>
                </a:lnTo>
                <a:lnTo>
                  <a:pt x="0" y="630455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3" name="Freeform 3"/>
          <p:cNvSpPr/>
          <p:nvPr/>
        </p:nvSpPr>
        <p:spPr>
          <a:xfrm>
            <a:off x="4729301" y="8031850"/>
            <a:ext cx="7776081" cy="6269465"/>
          </a:xfrm>
          <a:custGeom>
            <a:avLst/>
            <a:gdLst/>
            <a:ahLst/>
            <a:cxnLst/>
            <a:rect l="l" t="t" r="r" b="b"/>
            <a:pathLst>
              <a:path w="7776081" h="6269465">
                <a:moveTo>
                  <a:pt x="0" y="0"/>
                </a:moveTo>
                <a:lnTo>
                  <a:pt x="7776081" y="0"/>
                </a:lnTo>
                <a:lnTo>
                  <a:pt x="7776081" y="6269466"/>
                </a:lnTo>
                <a:lnTo>
                  <a:pt x="0" y="626946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4" name="TextBox 4"/>
          <p:cNvSpPr txBox="1"/>
          <p:nvPr/>
        </p:nvSpPr>
        <p:spPr>
          <a:xfrm>
            <a:off x="3402607" y="3408912"/>
            <a:ext cx="11482787" cy="1870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50"/>
              </a:lnSpc>
            </a:pPr>
            <a:r>
              <a:rPr lang="en-US" sz="5000">
                <a:solidFill>
                  <a:srgbClr val="46473E"/>
                </a:solidFill>
                <a:latin typeface="Alfa Slab One"/>
                <a:ea typeface="Alfa Slab One"/>
                <a:cs typeface="Alfa Slab One"/>
                <a:sym typeface="Alfa Slab One"/>
              </a:rPr>
              <a:t>Proyecto predictivo de Exportaciones Mineras No Metálicas (2005-2024)</a:t>
            </a:r>
          </a:p>
        </p:txBody>
      </p:sp>
      <p:sp>
        <p:nvSpPr>
          <p:cNvPr id="5" name="Freeform 5"/>
          <p:cNvSpPr/>
          <p:nvPr/>
        </p:nvSpPr>
        <p:spPr>
          <a:xfrm>
            <a:off x="6692603" y="-2303835"/>
            <a:ext cx="4270075" cy="4114800"/>
          </a:xfrm>
          <a:custGeom>
            <a:avLst/>
            <a:gdLst/>
            <a:ahLst/>
            <a:cxnLst/>
            <a:rect l="l" t="t" r="r" b="b"/>
            <a:pathLst>
              <a:path w="4270075" h="4114800">
                <a:moveTo>
                  <a:pt x="0" y="0"/>
                </a:moveTo>
                <a:lnTo>
                  <a:pt x="4270075" y="0"/>
                </a:lnTo>
                <a:lnTo>
                  <a:pt x="4270075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31999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6" name="Freeform 6"/>
          <p:cNvSpPr/>
          <p:nvPr/>
        </p:nvSpPr>
        <p:spPr>
          <a:xfrm>
            <a:off x="10594086" y="4054561"/>
            <a:ext cx="10774309" cy="10142432"/>
          </a:xfrm>
          <a:custGeom>
            <a:avLst/>
            <a:gdLst/>
            <a:ahLst/>
            <a:cxnLst/>
            <a:rect l="l" t="t" r="r" b="b"/>
            <a:pathLst>
              <a:path w="10774309" h="10142432">
                <a:moveTo>
                  <a:pt x="0" y="0"/>
                </a:moveTo>
                <a:lnTo>
                  <a:pt x="10774309" y="0"/>
                </a:lnTo>
                <a:lnTo>
                  <a:pt x="10774309" y="10142432"/>
                </a:lnTo>
                <a:lnTo>
                  <a:pt x="0" y="1014243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7" name="Freeform 7"/>
          <p:cNvSpPr/>
          <p:nvPr/>
        </p:nvSpPr>
        <p:spPr>
          <a:xfrm>
            <a:off x="-3933048" y="5682808"/>
            <a:ext cx="10149209" cy="6550853"/>
          </a:xfrm>
          <a:custGeom>
            <a:avLst/>
            <a:gdLst/>
            <a:ahLst/>
            <a:cxnLst/>
            <a:rect l="l" t="t" r="r" b="b"/>
            <a:pathLst>
              <a:path w="10149209" h="6550853">
                <a:moveTo>
                  <a:pt x="0" y="0"/>
                </a:moveTo>
                <a:lnTo>
                  <a:pt x="10149209" y="0"/>
                </a:lnTo>
                <a:lnTo>
                  <a:pt x="10149209" y="6550853"/>
                </a:lnTo>
                <a:lnTo>
                  <a:pt x="0" y="655085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8" name="Freeform 8"/>
          <p:cNvSpPr/>
          <p:nvPr/>
        </p:nvSpPr>
        <p:spPr>
          <a:xfrm flipH="1">
            <a:off x="-1687985" y="-1341311"/>
            <a:ext cx="7054045" cy="6304553"/>
          </a:xfrm>
          <a:custGeom>
            <a:avLst/>
            <a:gdLst/>
            <a:ahLst/>
            <a:cxnLst/>
            <a:rect l="l" t="t" r="r" b="b"/>
            <a:pathLst>
              <a:path w="7054045" h="6304553">
                <a:moveTo>
                  <a:pt x="7054045" y="0"/>
                </a:moveTo>
                <a:lnTo>
                  <a:pt x="0" y="0"/>
                </a:lnTo>
                <a:lnTo>
                  <a:pt x="0" y="6304553"/>
                </a:lnTo>
                <a:lnTo>
                  <a:pt x="7054045" y="6304553"/>
                </a:lnTo>
                <a:lnTo>
                  <a:pt x="7054045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9" name="TextBox 9"/>
          <p:cNvSpPr txBox="1"/>
          <p:nvPr/>
        </p:nvSpPr>
        <p:spPr>
          <a:xfrm>
            <a:off x="6060647" y="6196701"/>
            <a:ext cx="5726197" cy="15906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 b="1" spc="33">
                <a:solidFill>
                  <a:srgbClr val="3D3B3B"/>
                </a:solidFill>
                <a:latin typeface="Hind Jalandhar Bold"/>
                <a:ea typeface="Hind Jalandhar Bold"/>
                <a:cs typeface="Hind Jalandhar Bold"/>
                <a:sym typeface="Hind Jalandhar Bold"/>
              </a:rPr>
              <a:t>Abraham Pradenas</a:t>
            </a:r>
          </a:p>
          <a:p>
            <a:pPr algn="ctr">
              <a:lnSpc>
                <a:spcPts val="4200"/>
              </a:lnSpc>
            </a:pPr>
            <a:r>
              <a:rPr lang="en-US" sz="3000" b="1" spc="33">
                <a:solidFill>
                  <a:srgbClr val="3D3B3B"/>
                </a:solidFill>
                <a:latin typeface="Hind Jalandhar Bold"/>
                <a:ea typeface="Hind Jalandhar Bold"/>
                <a:cs typeface="Hind Jalandhar Bold"/>
                <a:sym typeface="Hind Jalandhar Bold"/>
              </a:rPr>
              <a:t>Andrea Santander</a:t>
            </a:r>
          </a:p>
          <a:p>
            <a:pPr algn="ctr">
              <a:lnSpc>
                <a:spcPts val="4200"/>
              </a:lnSpc>
            </a:pPr>
            <a:r>
              <a:rPr lang="en-US" sz="3000" b="1" spc="33">
                <a:solidFill>
                  <a:srgbClr val="3D3B3B"/>
                </a:solidFill>
                <a:latin typeface="Hind Jalandhar Bold"/>
                <a:ea typeface="Hind Jalandhar Bold"/>
                <a:cs typeface="Hind Jalandhar Bold"/>
                <a:sym typeface="Hind Jalandhar Bold"/>
              </a:rPr>
              <a:t>Marcos Vicuña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6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871030" y="1176617"/>
            <a:ext cx="6545941" cy="8953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641"/>
              </a:lnSpc>
            </a:pPr>
            <a:r>
              <a:rPr lang="en-US" sz="6846">
                <a:solidFill>
                  <a:srgbClr val="3D3B3B"/>
                </a:solidFill>
                <a:latin typeface="Alfa Slab One"/>
                <a:ea typeface="Alfa Slab One"/>
                <a:cs typeface="Alfa Slab One"/>
                <a:sym typeface="Alfa Slab One"/>
              </a:rPr>
              <a:t>Motivación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3040106" y="3031836"/>
            <a:ext cx="11724404" cy="42591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78127" lvl="1" indent="-439064" algn="l">
              <a:lnSpc>
                <a:spcPts val="5694"/>
              </a:lnSpc>
              <a:buFont typeface="Arial"/>
              <a:buChar char="•"/>
            </a:pPr>
            <a:r>
              <a:rPr lang="en-US" sz="4067" spc="44">
                <a:solidFill>
                  <a:srgbClr val="3D3B3B"/>
                </a:solidFill>
                <a:latin typeface="Hind Jalandhar"/>
                <a:ea typeface="Hind Jalandhar"/>
                <a:cs typeface="Hind Jalandhar"/>
                <a:sym typeface="Hind Jalandhar"/>
              </a:rPr>
              <a:t>Transición energética</a:t>
            </a:r>
          </a:p>
          <a:p>
            <a:pPr algn="l">
              <a:lnSpc>
                <a:spcPts val="5694"/>
              </a:lnSpc>
            </a:pPr>
            <a:endParaRPr lang="en-US" sz="4067" spc="44">
              <a:solidFill>
                <a:srgbClr val="3D3B3B"/>
              </a:solidFill>
              <a:latin typeface="Hind Jalandhar"/>
              <a:ea typeface="Hind Jalandhar"/>
              <a:cs typeface="Hind Jalandhar"/>
              <a:sym typeface="Hind Jalandhar"/>
            </a:endParaRPr>
          </a:p>
          <a:p>
            <a:pPr marL="878127" lvl="1" indent="-439064" algn="l">
              <a:lnSpc>
                <a:spcPts val="5694"/>
              </a:lnSpc>
              <a:buFont typeface="Arial"/>
              <a:buChar char="•"/>
            </a:pPr>
            <a:r>
              <a:rPr lang="en-US" sz="4067" spc="44">
                <a:solidFill>
                  <a:srgbClr val="3D3B3B"/>
                </a:solidFill>
                <a:latin typeface="Hind Jalandhar"/>
                <a:ea typeface="Hind Jalandhar"/>
                <a:cs typeface="Hind Jalandhar"/>
                <a:sym typeface="Hind Jalandhar"/>
              </a:rPr>
              <a:t>Impacto económico</a:t>
            </a:r>
          </a:p>
          <a:p>
            <a:pPr algn="l">
              <a:lnSpc>
                <a:spcPts val="5694"/>
              </a:lnSpc>
            </a:pPr>
            <a:endParaRPr lang="en-US" sz="4067" spc="44">
              <a:solidFill>
                <a:srgbClr val="3D3B3B"/>
              </a:solidFill>
              <a:latin typeface="Hind Jalandhar"/>
              <a:ea typeface="Hind Jalandhar"/>
              <a:cs typeface="Hind Jalandhar"/>
              <a:sym typeface="Hind Jalandhar"/>
            </a:endParaRPr>
          </a:p>
          <a:p>
            <a:pPr marL="878127" lvl="1" indent="-439064" algn="l">
              <a:lnSpc>
                <a:spcPts val="5694"/>
              </a:lnSpc>
              <a:buFont typeface="Arial"/>
              <a:buChar char="•"/>
            </a:pPr>
            <a:r>
              <a:rPr lang="en-US" sz="4067" spc="44">
                <a:solidFill>
                  <a:srgbClr val="3D3B3B"/>
                </a:solidFill>
                <a:latin typeface="Hind Jalandhar"/>
                <a:ea typeface="Hind Jalandhar"/>
                <a:cs typeface="Hind Jalandhar"/>
                <a:sym typeface="Hind Jalandhar"/>
              </a:rPr>
              <a:t>Beneficio estratégico</a:t>
            </a:r>
          </a:p>
          <a:p>
            <a:pPr algn="l">
              <a:lnSpc>
                <a:spcPts val="5694"/>
              </a:lnSpc>
            </a:pPr>
            <a:endParaRPr lang="en-US" sz="4067" spc="44">
              <a:solidFill>
                <a:srgbClr val="3D3B3B"/>
              </a:solidFill>
              <a:latin typeface="Hind Jalandhar"/>
              <a:ea typeface="Hind Jalandhar"/>
              <a:cs typeface="Hind Jalandhar"/>
              <a:sym typeface="Hind Jalandhar"/>
            </a:endParaRPr>
          </a:p>
        </p:txBody>
      </p:sp>
      <p:sp>
        <p:nvSpPr>
          <p:cNvPr id="4" name="Freeform 4"/>
          <p:cNvSpPr/>
          <p:nvPr/>
        </p:nvSpPr>
        <p:spPr>
          <a:xfrm>
            <a:off x="16152962" y="3086100"/>
            <a:ext cx="4270075" cy="4114800"/>
          </a:xfrm>
          <a:custGeom>
            <a:avLst/>
            <a:gdLst/>
            <a:ahLst/>
            <a:cxnLst/>
            <a:rect l="l" t="t" r="r" b="b"/>
            <a:pathLst>
              <a:path w="4270075" h="4114800">
                <a:moveTo>
                  <a:pt x="0" y="0"/>
                </a:moveTo>
                <a:lnTo>
                  <a:pt x="4270076" y="0"/>
                </a:lnTo>
                <a:lnTo>
                  <a:pt x="4270076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31999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5" name="Freeform 5"/>
          <p:cNvSpPr/>
          <p:nvPr/>
        </p:nvSpPr>
        <p:spPr>
          <a:xfrm>
            <a:off x="13801214" y="5821517"/>
            <a:ext cx="7301792" cy="6873566"/>
          </a:xfrm>
          <a:custGeom>
            <a:avLst/>
            <a:gdLst/>
            <a:ahLst/>
            <a:cxnLst/>
            <a:rect l="l" t="t" r="r" b="b"/>
            <a:pathLst>
              <a:path w="7301792" h="6873566">
                <a:moveTo>
                  <a:pt x="0" y="0"/>
                </a:moveTo>
                <a:lnTo>
                  <a:pt x="7301792" y="0"/>
                </a:lnTo>
                <a:lnTo>
                  <a:pt x="7301792" y="6873566"/>
                </a:lnTo>
                <a:lnTo>
                  <a:pt x="0" y="687356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6" name="Freeform 6"/>
          <p:cNvSpPr/>
          <p:nvPr/>
        </p:nvSpPr>
        <p:spPr>
          <a:xfrm>
            <a:off x="-2287391" y="3086100"/>
            <a:ext cx="4270075" cy="4114800"/>
          </a:xfrm>
          <a:custGeom>
            <a:avLst/>
            <a:gdLst/>
            <a:ahLst/>
            <a:cxnLst/>
            <a:rect l="l" t="t" r="r" b="b"/>
            <a:pathLst>
              <a:path w="4270075" h="4114800">
                <a:moveTo>
                  <a:pt x="0" y="0"/>
                </a:moveTo>
                <a:lnTo>
                  <a:pt x="4270076" y="0"/>
                </a:lnTo>
                <a:lnTo>
                  <a:pt x="4270076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31999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7" name="Freeform 7"/>
          <p:cNvSpPr/>
          <p:nvPr/>
        </p:nvSpPr>
        <p:spPr>
          <a:xfrm flipH="1">
            <a:off x="6098240" y="8617399"/>
            <a:ext cx="6091520" cy="4911288"/>
          </a:xfrm>
          <a:custGeom>
            <a:avLst/>
            <a:gdLst/>
            <a:ahLst/>
            <a:cxnLst/>
            <a:rect l="l" t="t" r="r" b="b"/>
            <a:pathLst>
              <a:path w="6091520" h="4911288">
                <a:moveTo>
                  <a:pt x="6091520" y="0"/>
                </a:moveTo>
                <a:lnTo>
                  <a:pt x="0" y="0"/>
                </a:lnTo>
                <a:lnTo>
                  <a:pt x="0" y="4911287"/>
                </a:lnTo>
                <a:lnTo>
                  <a:pt x="6091520" y="4911287"/>
                </a:lnTo>
                <a:lnTo>
                  <a:pt x="609152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8" name="Freeform 8"/>
          <p:cNvSpPr/>
          <p:nvPr/>
        </p:nvSpPr>
        <p:spPr>
          <a:xfrm flipH="1">
            <a:off x="177662" y="-960149"/>
            <a:ext cx="4450570" cy="3977697"/>
          </a:xfrm>
          <a:custGeom>
            <a:avLst/>
            <a:gdLst/>
            <a:ahLst/>
            <a:cxnLst/>
            <a:rect l="l" t="t" r="r" b="b"/>
            <a:pathLst>
              <a:path w="4450570" h="3977697">
                <a:moveTo>
                  <a:pt x="4450570" y="0"/>
                </a:moveTo>
                <a:lnTo>
                  <a:pt x="0" y="0"/>
                </a:lnTo>
                <a:lnTo>
                  <a:pt x="0" y="3977698"/>
                </a:lnTo>
                <a:lnTo>
                  <a:pt x="4450570" y="3977698"/>
                </a:lnTo>
                <a:lnTo>
                  <a:pt x="445057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9" name="Freeform 9"/>
          <p:cNvSpPr/>
          <p:nvPr/>
        </p:nvSpPr>
        <p:spPr>
          <a:xfrm>
            <a:off x="13374336" y="-811829"/>
            <a:ext cx="4714356" cy="4213456"/>
          </a:xfrm>
          <a:custGeom>
            <a:avLst/>
            <a:gdLst/>
            <a:ahLst/>
            <a:cxnLst/>
            <a:rect l="l" t="t" r="r" b="b"/>
            <a:pathLst>
              <a:path w="4714356" h="4213456">
                <a:moveTo>
                  <a:pt x="0" y="0"/>
                </a:moveTo>
                <a:lnTo>
                  <a:pt x="4714356" y="0"/>
                </a:lnTo>
                <a:lnTo>
                  <a:pt x="4714356" y="4213456"/>
                </a:lnTo>
                <a:lnTo>
                  <a:pt x="0" y="421345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10" name="Freeform 10"/>
          <p:cNvSpPr/>
          <p:nvPr/>
        </p:nvSpPr>
        <p:spPr>
          <a:xfrm flipH="1">
            <a:off x="-2654438" y="6491768"/>
            <a:ext cx="7852609" cy="5068502"/>
          </a:xfrm>
          <a:custGeom>
            <a:avLst/>
            <a:gdLst/>
            <a:ahLst/>
            <a:cxnLst/>
            <a:rect l="l" t="t" r="r" b="b"/>
            <a:pathLst>
              <a:path w="7852609" h="5068502">
                <a:moveTo>
                  <a:pt x="7852610" y="0"/>
                </a:moveTo>
                <a:lnTo>
                  <a:pt x="0" y="0"/>
                </a:lnTo>
                <a:lnTo>
                  <a:pt x="0" y="5068503"/>
                </a:lnTo>
                <a:lnTo>
                  <a:pt x="7852610" y="5068503"/>
                </a:lnTo>
                <a:lnTo>
                  <a:pt x="785261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6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6152962" y="3086100"/>
            <a:ext cx="4270075" cy="4114800"/>
          </a:xfrm>
          <a:custGeom>
            <a:avLst/>
            <a:gdLst/>
            <a:ahLst/>
            <a:cxnLst/>
            <a:rect l="l" t="t" r="r" b="b"/>
            <a:pathLst>
              <a:path w="4270075" h="4114800">
                <a:moveTo>
                  <a:pt x="0" y="0"/>
                </a:moveTo>
                <a:lnTo>
                  <a:pt x="4270076" y="0"/>
                </a:lnTo>
                <a:lnTo>
                  <a:pt x="4270076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31999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3" name="Freeform 3"/>
          <p:cNvSpPr/>
          <p:nvPr/>
        </p:nvSpPr>
        <p:spPr>
          <a:xfrm>
            <a:off x="13801214" y="5821517"/>
            <a:ext cx="7301792" cy="6873566"/>
          </a:xfrm>
          <a:custGeom>
            <a:avLst/>
            <a:gdLst/>
            <a:ahLst/>
            <a:cxnLst/>
            <a:rect l="l" t="t" r="r" b="b"/>
            <a:pathLst>
              <a:path w="7301792" h="6873566">
                <a:moveTo>
                  <a:pt x="0" y="0"/>
                </a:moveTo>
                <a:lnTo>
                  <a:pt x="7301792" y="0"/>
                </a:lnTo>
                <a:lnTo>
                  <a:pt x="7301792" y="6873566"/>
                </a:lnTo>
                <a:lnTo>
                  <a:pt x="0" y="687356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4" name="Freeform 4"/>
          <p:cNvSpPr/>
          <p:nvPr/>
        </p:nvSpPr>
        <p:spPr>
          <a:xfrm>
            <a:off x="-2287391" y="3086100"/>
            <a:ext cx="4270075" cy="4114800"/>
          </a:xfrm>
          <a:custGeom>
            <a:avLst/>
            <a:gdLst/>
            <a:ahLst/>
            <a:cxnLst/>
            <a:rect l="l" t="t" r="r" b="b"/>
            <a:pathLst>
              <a:path w="4270075" h="4114800">
                <a:moveTo>
                  <a:pt x="0" y="0"/>
                </a:moveTo>
                <a:lnTo>
                  <a:pt x="4270076" y="0"/>
                </a:lnTo>
                <a:lnTo>
                  <a:pt x="4270076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31999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5" name="Freeform 5"/>
          <p:cNvSpPr/>
          <p:nvPr/>
        </p:nvSpPr>
        <p:spPr>
          <a:xfrm flipH="1">
            <a:off x="6098240" y="8617399"/>
            <a:ext cx="6091520" cy="4911288"/>
          </a:xfrm>
          <a:custGeom>
            <a:avLst/>
            <a:gdLst/>
            <a:ahLst/>
            <a:cxnLst/>
            <a:rect l="l" t="t" r="r" b="b"/>
            <a:pathLst>
              <a:path w="6091520" h="4911288">
                <a:moveTo>
                  <a:pt x="6091520" y="0"/>
                </a:moveTo>
                <a:lnTo>
                  <a:pt x="0" y="0"/>
                </a:lnTo>
                <a:lnTo>
                  <a:pt x="0" y="4911287"/>
                </a:lnTo>
                <a:lnTo>
                  <a:pt x="6091520" y="4911287"/>
                </a:lnTo>
                <a:lnTo>
                  <a:pt x="609152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6" name="Freeform 6"/>
          <p:cNvSpPr/>
          <p:nvPr/>
        </p:nvSpPr>
        <p:spPr>
          <a:xfrm flipH="1">
            <a:off x="177662" y="-960149"/>
            <a:ext cx="4450570" cy="3977697"/>
          </a:xfrm>
          <a:custGeom>
            <a:avLst/>
            <a:gdLst/>
            <a:ahLst/>
            <a:cxnLst/>
            <a:rect l="l" t="t" r="r" b="b"/>
            <a:pathLst>
              <a:path w="4450570" h="3977697">
                <a:moveTo>
                  <a:pt x="4450570" y="0"/>
                </a:moveTo>
                <a:lnTo>
                  <a:pt x="0" y="0"/>
                </a:lnTo>
                <a:lnTo>
                  <a:pt x="0" y="3977698"/>
                </a:lnTo>
                <a:lnTo>
                  <a:pt x="4450570" y="3977698"/>
                </a:lnTo>
                <a:lnTo>
                  <a:pt x="445057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7" name="Freeform 7"/>
          <p:cNvSpPr/>
          <p:nvPr/>
        </p:nvSpPr>
        <p:spPr>
          <a:xfrm>
            <a:off x="13374336" y="-811829"/>
            <a:ext cx="4714356" cy="4213456"/>
          </a:xfrm>
          <a:custGeom>
            <a:avLst/>
            <a:gdLst/>
            <a:ahLst/>
            <a:cxnLst/>
            <a:rect l="l" t="t" r="r" b="b"/>
            <a:pathLst>
              <a:path w="4714356" h="4213456">
                <a:moveTo>
                  <a:pt x="0" y="0"/>
                </a:moveTo>
                <a:lnTo>
                  <a:pt x="4714356" y="0"/>
                </a:lnTo>
                <a:lnTo>
                  <a:pt x="4714356" y="4213456"/>
                </a:lnTo>
                <a:lnTo>
                  <a:pt x="0" y="421345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8" name="Freeform 8"/>
          <p:cNvSpPr/>
          <p:nvPr/>
        </p:nvSpPr>
        <p:spPr>
          <a:xfrm flipH="1">
            <a:off x="-2654438" y="6491768"/>
            <a:ext cx="7852609" cy="5068502"/>
          </a:xfrm>
          <a:custGeom>
            <a:avLst/>
            <a:gdLst/>
            <a:ahLst/>
            <a:cxnLst/>
            <a:rect l="l" t="t" r="r" b="b"/>
            <a:pathLst>
              <a:path w="7852609" h="5068502">
                <a:moveTo>
                  <a:pt x="7852610" y="0"/>
                </a:moveTo>
                <a:lnTo>
                  <a:pt x="0" y="0"/>
                </a:lnTo>
                <a:lnTo>
                  <a:pt x="0" y="5068503"/>
                </a:lnTo>
                <a:lnTo>
                  <a:pt x="7852610" y="5068503"/>
                </a:lnTo>
                <a:lnTo>
                  <a:pt x="785261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9" name="TextBox 9"/>
          <p:cNvSpPr txBox="1"/>
          <p:nvPr/>
        </p:nvSpPr>
        <p:spPr>
          <a:xfrm>
            <a:off x="4375563" y="337359"/>
            <a:ext cx="8252888" cy="17335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641"/>
              </a:lnSpc>
            </a:pPr>
            <a:r>
              <a:rPr lang="en-US" sz="6846">
                <a:solidFill>
                  <a:srgbClr val="3D3B3B"/>
                </a:solidFill>
                <a:latin typeface="Alfa Slab One"/>
                <a:ea typeface="Alfa Slab One"/>
                <a:cs typeface="Alfa Slab One"/>
                <a:sym typeface="Alfa Slab One"/>
              </a:rPr>
              <a:t>Pregunta de Ciencia de Datos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2561468" y="4138434"/>
            <a:ext cx="12379566" cy="13263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45"/>
              </a:lnSpc>
            </a:pPr>
            <a:r>
              <a:rPr lang="en-US" sz="2532" b="1" spc="27">
                <a:solidFill>
                  <a:srgbClr val="3D3B3B"/>
                </a:solidFill>
                <a:latin typeface="Hind Jalandhar Bold"/>
                <a:ea typeface="Hind Jalandhar Bold"/>
                <a:cs typeface="Hind Jalandhar Bold"/>
                <a:sym typeface="Hind Jalandhar Bold"/>
              </a:rPr>
              <a:t> ¿Qué variables de demanda física, oferta nacional y macroeconomía internacional (X) permiten estimar el valor monetario FOB de las exportaciones no metálicas de Chile (Y) en una ventana de evaluación anual (T)?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6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6152962" y="3086100"/>
            <a:ext cx="4270075" cy="4114800"/>
          </a:xfrm>
          <a:custGeom>
            <a:avLst/>
            <a:gdLst/>
            <a:ahLst/>
            <a:cxnLst/>
            <a:rect l="l" t="t" r="r" b="b"/>
            <a:pathLst>
              <a:path w="4270075" h="4114800">
                <a:moveTo>
                  <a:pt x="0" y="0"/>
                </a:moveTo>
                <a:lnTo>
                  <a:pt x="4270076" y="0"/>
                </a:lnTo>
                <a:lnTo>
                  <a:pt x="4270076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31999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3" name="Freeform 3"/>
          <p:cNvSpPr/>
          <p:nvPr/>
        </p:nvSpPr>
        <p:spPr>
          <a:xfrm>
            <a:off x="13801214" y="5821517"/>
            <a:ext cx="7301792" cy="6873566"/>
          </a:xfrm>
          <a:custGeom>
            <a:avLst/>
            <a:gdLst/>
            <a:ahLst/>
            <a:cxnLst/>
            <a:rect l="l" t="t" r="r" b="b"/>
            <a:pathLst>
              <a:path w="7301792" h="6873566">
                <a:moveTo>
                  <a:pt x="0" y="0"/>
                </a:moveTo>
                <a:lnTo>
                  <a:pt x="7301792" y="0"/>
                </a:lnTo>
                <a:lnTo>
                  <a:pt x="7301792" y="6873566"/>
                </a:lnTo>
                <a:lnTo>
                  <a:pt x="0" y="687356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4" name="Freeform 4"/>
          <p:cNvSpPr/>
          <p:nvPr/>
        </p:nvSpPr>
        <p:spPr>
          <a:xfrm>
            <a:off x="-2287391" y="3086100"/>
            <a:ext cx="4270075" cy="4114800"/>
          </a:xfrm>
          <a:custGeom>
            <a:avLst/>
            <a:gdLst/>
            <a:ahLst/>
            <a:cxnLst/>
            <a:rect l="l" t="t" r="r" b="b"/>
            <a:pathLst>
              <a:path w="4270075" h="4114800">
                <a:moveTo>
                  <a:pt x="0" y="0"/>
                </a:moveTo>
                <a:lnTo>
                  <a:pt x="4270076" y="0"/>
                </a:lnTo>
                <a:lnTo>
                  <a:pt x="4270076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31999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5" name="Freeform 5"/>
          <p:cNvSpPr/>
          <p:nvPr/>
        </p:nvSpPr>
        <p:spPr>
          <a:xfrm flipH="1">
            <a:off x="6098240" y="8617399"/>
            <a:ext cx="6091520" cy="4911288"/>
          </a:xfrm>
          <a:custGeom>
            <a:avLst/>
            <a:gdLst/>
            <a:ahLst/>
            <a:cxnLst/>
            <a:rect l="l" t="t" r="r" b="b"/>
            <a:pathLst>
              <a:path w="6091520" h="4911288">
                <a:moveTo>
                  <a:pt x="6091520" y="0"/>
                </a:moveTo>
                <a:lnTo>
                  <a:pt x="0" y="0"/>
                </a:lnTo>
                <a:lnTo>
                  <a:pt x="0" y="4911287"/>
                </a:lnTo>
                <a:lnTo>
                  <a:pt x="6091520" y="4911287"/>
                </a:lnTo>
                <a:lnTo>
                  <a:pt x="609152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6" name="Freeform 6"/>
          <p:cNvSpPr/>
          <p:nvPr/>
        </p:nvSpPr>
        <p:spPr>
          <a:xfrm flipH="1">
            <a:off x="177662" y="-960149"/>
            <a:ext cx="4450570" cy="3977697"/>
          </a:xfrm>
          <a:custGeom>
            <a:avLst/>
            <a:gdLst/>
            <a:ahLst/>
            <a:cxnLst/>
            <a:rect l="l" t="t" r="r" b="b"/>
            <a:pathLst>
              <a:path w="4450570" h="3977697">
                <a:moveTo>
                  <a:pt x="4450570" y="0"/>
                </a:moveTo>
                <a:lnTo>
                  <a:pt x="0" y="0"/>
                </a:lnTo>
                <a:lnTo>
                  <a:pt x="0" y="3977698"/>
                </a:lnTo>
                <a:lnTo>
                  <a:pt x="4450570" y="3977698"/>
                </a:lnTo>
                <a:lnTo>
                  <a:pt x="445057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7" name="Freeform 7"/>
          <p:cNvSpPr/>
          <p:nvPr/>
        </p:nvSpPr>
        <p:spPr>
          <a:xfrm>
            <a:off x="13374336" y="-811829"/>
            <a:ext cx="4714356" cy="4213456"/>
          </a:xfrm>
          <a:custGeom>
            <a:avLst/>
            <a:gdLst/>
            <a:ahLst/>
            <a:cxnLst/>
            <a:rect l="l" t="t" r="r" b="b"/>
            <a:pathLst>
              <a:path w="4714356" h="4213456">
                <a:moveTo>
                  <a:pt x="0" y="0"/>
                </a:moveTo>
                <a:lnTo>
                  <a:pt x="4714356" y="0"/>
                </a:lnTo>
                <a:lnTo>
                  <a:pt x="4714356" y="4213456"/>
                </a:lnTo>
                <a:lnTo>
                  <a:pt x="0" y="421345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8" name="Freeform 8"/>
          <p:cNvSpPr/>
          <p:nvPr/>
        </p:nvSpPr>
        <p:spPr>
          <a:xfrm flipH="1">
            <a:off x="-2654438" y="6491768"/>
            <a:ext cx="7852609" cy="5068502"/>
          </a:xfrm>
          <a:custGeom>
            <a:avLst/>
            <a:gdLst/>
            <a:ahLst/>
            <a:cxnLst/>
            <a:rect l="l" t="t" r="r" b="b"/>
            <a:pathLst>
              <a:path w="7852609" h="5068502">
                <a:moveTo>
                  <a:pt x="7852610" y="0"/>
                </a:moveTo>
                <a:lnTo>
                  <a:pt x="0" y="0"/>
                </a:lnTo>
                <a:lnTo>
                  <a:pt x="0" y="5068503"/>
                </a:lnTo>
                <a:lnTo>
                  <a:pt x="7852610" y="5068503"/>
                </a:lnTo>
                <a:lnTo>
                  <a:pt x="785261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9" name="Freeform 9"/>
          <p:cNvSpPr/>
          <p:nvPr/>
        </p:nvSpPr>
        <p:spPr>
          <a:xfrm>
            <a:off x="3781630" y="4945890"/>
            <a:ext cx="11505555" cy="4171652"/>
          </a:xfrm>
          <a:custGeom>
            <a:avLst/>
            <a:gdLst/>
            <a:ahLst/>
            <a:cxnLst/>
            <a:rect l="l" t="t" r="r" b="b"/>
            <a:pathLst>
              <a:path w="11505555" h="4171652">
                <a:moveTo>
                  <a:pt x="0" y="0"/>
                </a:moveTo>
                <a:lnTo>
                  <a:pt x="11505554" y="0"/>
                </a:lnTo>
                <a:lnTo>
                  <a:pt x="11505554" y="4171652"/>
                </a:lnTo>
                <a:lnTo>
                  <a:pt x="0" y="4171652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t="-1061" b="-70167"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10" name="TextBox 10"/>
          <p:cNvSpPr txBox="1"/>
          <p:nvPr/>
        </p:nvSpPr>
        <p:spPr>
          <a:xfrm>
            <a:off x="5871030" y="1175559"/>
            <a:ext cx="6545941" cy="8953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641"/>
              </a:lnSpc>
            </a:pPr>
            <a:r>
              <a:rPr lang="en-US" sz="6846">
                <a:solidFill>
                  <a:srgbClr val="3D3B3B"/>
                </a:solidFill>
                <a:latin typeface="Alfa Slab One"/>
                <a:ea typeface="Alfa Slab One"/>
                <a:cs typeface="Alfa Slab One"/>
                <a:sym typeface="Alfa Slab One"/>
              </a:rPr>
              <a:t>Dataset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3539461" y="2727923"/>
            <a:ext cx="10705428" cy="25776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702" lvl="1" indent="-323851" algn="l">
              <a:lnSpc>
                <a:spcPts val="4200"/>
              </a:lnSpc>
              <a:buFont typeface="Arial"/>
              <a:buChar char="•"/>
            </a:pPr>
            <a:r>
              <a:rPr lang="en-US" sz="3000" b="1" spc="33">
                <a:solidFill>
                  <a:srgbClr val="3D3B3B"/>
                </a:solidFill>
                <a:latin typeface="Hind Jalandhar Bold"/>
                <a:ea typeface="Hind Jalandhar Bold"/>
                <a:cs typeface="Hind Jalandhar Bold"/>
                <a:sym typeface="Hind Jalandhar Bold"/>
              </a:rPr>
              <a:t>Fuentes:</a:t>
            </a:r>
            <a:r>
              <a:rPr lang="en-US" sz="3000" spc="33">
                <a:solidFill>
                  <a:srgbClr val="3D3B3B"/>
                </a:solidFill>
                <a:latin typeface="Hind Jalandhar"/>
                <a:ea typeface="Hind Jalandhar"/>
                <a:cs typeface="Hind Jalandhar"/>
                <a:sym typeface="Hind Jalandhar"/>
              </a:rPr>
              <a:t> COCHILCO, Aduanas y API Banco Mundial. </a:t>
            </a:r>
          </a:p>
          <a:p>
            <a:pPr marL="647702" lvl="1" indent="-323851" algn="l">
              <a:lnSpc>
                <a:spcPts val="4200"/>
              </a:lnSpc>
              <a:buFont typeface="Arial"/>
              <a:buChar char="•"/>
            </a:pPr>
            <a:r>
              <a:rPr lang="en-US" sz="3000" b="1" spc="33">
                <a:solidFill>
                  <a:srgbClr val="3D3B3B"/>
                </a:solidFill>
                <a:latin typeface="Hind Jalandhar Bold"/>
                <a:ea typeface="Hind Jalandhar Bold"/>
                <a:cs typeface="Hind Jalandhar Bold"/>
                <a:sym typeface="Hind Jalandhar Bold"/>
              </a:rPr>
              <a:t>Tamaño:</a:t>
            </a:r>
            <a:r>
              <a:rPr lang="en-US" sz="3000" spc="33">
                <a:solidFill>
                  <a:srgbClr val="3D3B3B"/>
                </a:solidFill>
                <a:latin typeface="Hind Jalandhar"/>
                <a:ea typeface="Hind Jalandhar"/>
                <a:cs typeface="Hind Jalandhar"/>
                <a:sym typeface="Hind Jalandhar"/>
              </a:rPr>
              <a:t> 18.540 registros. </a:t>
            </a:r>
          </a:p>
          <a:p>
            <a:pPr marL="647702" lvl="1" indent="-323851" algn="l">
              <a:lnSpc>
                <a:spcPts val="4200"/>
              </a:lnSpc>
              <a:buFont typeface="Arial"/>
              <a:buChar char="•"/>
            </a:pPr>
            <a:r>
              <a:rPr lang="en-US" sz="3000" b="1" spc="33">
                <a:solidFill>
                  <a:srgbClr val="3D3B3B"/>
                </a:solidFill>
                <a:latin typeface="Hind Jalandhar Bold"/>
                <a:ea typeface="Hind Jalandhar Bold"/>
                <a:cs typeface="Hind Jalandhar Bold"/>
                <a:sym typeface="Hind Jalandhar Bold"/>
              </a:rPr>
              <a:t>Unidad de Observación:</a:t>
            </a:r>
            <a:r>
              <a:rPr lang="en-US" sz="3000" spc="33">
                <a:solidFill>
                  <a:srgbClr val="3D3B3B"/>
                </a:solidFill>
                <a:latin typeface="Hind Jalandhar"/>
                <a:ea typeface="Hind Jalandhar"/>
                <a:cs typeface="Hind Jalandhar"/>
                <a:sym typeface="Hind Jalandhar"/>
              </a:rPr>
              <a:t> Un registro de exportación de un producto específico, a un país específico, en un año dado.</a:t>
            </a:r>
          </a:p>
          <a:p>
            <a:pPr algn="l">
              <a:lnSpc>
                <a:spcPts val="3545"/>
              </a:lnSpc>
            </a:pPr>
            <a:endParaRPr lang="en-US" sz="3000" spc="33">
              <a:solidFill>
                <a:srgbClr val="3D3B3B"/>
              </a:solidFill>
              <a:latin typeface="Hind Jalandhar"/>
              <a:ea typeface="Hind Jalandhar"/>
              <a:cs typeface="Hind Jalandhar"/>
              <a:sym typeface="Hind Jalandhar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6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3885241" y="1002011"/>
            <a:ext cx="10517519" cy="17335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641"/>
              </a:lnSpc>
            </a:pPr>
            <a:r>
              <a:rPr lang="en-US" sz="6846">
                <a:solidFill>
                  <a:srgbClr val="3D3B3B"/>
                </a:solidFill>
                <a:latin typeface="Alfa Slab One"/>
                <a:ea typeface="Alfa Slab One"/>
                <a:cs typeface="Alfa Slab One"/>
                <a:sym typeface="Alfa Slab One"/>
              </a:rPr>
              <a:t>Viabilidad y Organización Técnica</a:t>
            </a:r>
          </a:p>
        </p:txBody>
      </p:sp>
      <p:sp>
        <p:nvSpPr>
          <p:cNvPr id="3" name="Freeform 3"/>
          <p:cNvSpPr/>
          <p:nvPr/>
        </p:nvSpPr>
        <p:spPr>
          <a:xfrm>
            <a:off x="16152962" y="3086100"/>
            <a:ext cx="4270075" cy="4114800"/>
          </a:xfrm>
          <a:custGeom>
            <a:avLst/>
            <a:gdLst/>
            <a:ahLst/>
            <a:cxnLst/>
            <a:rect l="l" t="t" r="r" b="b"/>
            <a:pathLst>
              <a:path w="4270075" h="4114800">
                <a:moveTo>
                  <a:pt x="0" y="0"/>
                </a:moveTo>
                <a:lnTo>
                  <a:pt x="4270076" y="0"/>
                </a:lnTo>
                <a:lnTo>
                  <a:pt x="4270076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31999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4" name="Freeform 4"/>
          <p:cNvSpPr/>
          <p:nvPr/>
        </p:nvSpPr>
        <p:spPr>
          <a:xfrm>
            <a:off x="13801214" y="5821517"/>
            <a:ext cx="7301792" cy="6873566"/>
          </a:xfrm>
          <a:custGeom>
            <a:avLst/>
            <a:gdLst/>
            <a:ahLst/>
            <a:cxnLst/>
            <a:rect l="l" t="t" r="r" b="b"/>
            <a:pathLst>
              <a:path w="7301792" h="6873566">
                <a:moveTo>
                  <a:pt x="0" y="0"/>
                </a:moveTo>
                <a:lnTo>
                  <a:pt x="7301792" y="0"/>
                </a:lnTo>
                <a:lnTo>
                  <a:pt x="7301792" y="6873566"/>
                </a:lnTo>
                <a:lnTo>
                  <a:pt x="0" y="687356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5" name="Freeform 5"/>
          <p:cNvSpPr/>
          <p:nvPr/>
        </p:nvSpPr>
        <p:spPr>
          <a:xfrm>
            <a:off x="-2287391" y="3086100"/>
            <a:ext cx="4270075" cy="4114800"/>
          </a:xfrm>
          <a:custGeom>
            <a:avLst/>
            <a:gdLst/>
            <a:ahLst/>
            <a:cxnLst/>
            <a:rect l="l" t="t" r="r" b="b"/>
            <a:pathLst>
              <a:path w="4270075" h="4114800">
                <a:moveTo>
                  <a:pt x="0" y="0"/>
                </a:moveTo>
                <a:lnTo>
                  <a:pt x="4270076" y="0"/>
                </a:lnTo>
                <a:lnTo>
                  <a:pt x="4270076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31999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6" name="Freeform 6"/>
          <p:cNvSpPr/>
          <p:nvPr/>
        </p:nvSpPr>
        <p:spPr>
          <a:xfrm flipH="1">
            <a:off x="6098240" y="8617399"/>
            <a:ext cx="6091520" cy="4911288"/>
          </a:xfrm>
          <a:custGeom>
            <a:avLst/>
            <a:gdLst/>
            <a:ahLst/>
            <a:cxnLst/>
            <a:rect l="l" t="t" r="r" b="b"/>
            <a:pathLst>
              <a:path w="6091520" h="4911288">
                <a:moveTo>
                  <a:pt x="6091520" y="0"/>
                </a:moveTo>
                <a:lnTo>
                  <a:pt x="0" y="0"/>
                </a:lnTo>
                <a:lnTo>
                  <a:pt x="0" y="4911287"/>
                </a:lnTo>
                <a:lnTo>
                  <a:pt x="6091520" y="4911287"/>
                </a:lnTo>
                <a:lnTo>
                  <a:pt x="609152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7" name="Freeform 7"/>
          <p:cNvSpPr/>
          <p:nvPr/>
        </p:nvSpPr>
        <p:spPr>
          <a:xfrm flipH="1">
            <a:off x="177662" y="-960149"/>
            <a:ext cx="4450570" cy="3977697"/>
          </a:xfrm>
          <a:custGeom>
            <a:avLst/>
            <a:gdLst/>
            <a:ahLst/>
            <a:cxnLst/>
            <a:rect l="l" t="t" r="r" b="b"/>
            <a:pathLst>
              <a:path w="4450570" h="3977697">
                <a:moveTo>
                  <a:pt x="4450570" y="0"/>
                </a:moveTo>
                <a:lnTo>
                  <a:pt x="0" y="0"/>
                </a:lnTo>
                <a:lnTo>
                  <a:pt x="0" y="3977698"/>
                </a:lnTo>
                <a:lnTo>
                  <a:pt x="4450570" y="3977698"/>
                </a:lnTo>
                <a:lnTo>
                  <a:pt x="445057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8" name="Freeform 8"/>
          <p:cNvSpPr/>
          <p:nvPr/>
        </p:nvSpPr>
        <p:spPr>
          <a:xfrm>
            <a:off x="13374336" y="-811829"/>
            <a:ext cx="4714356" cy="4213456"/>
          </a:xfrm>
          <a:custGeom>
            <a:avLst/>
            <a:gdLst/>
            <a:ahLst/>
            <a:cxnLst/>
            <a:rect l="l" t="t" r="r" b="b"/>
            <a:pathLst>
              <a:path w="4714356" h="4213456">
                <a:moveTo>
                  <a:pt x="0" y="0"/>
                </a:moveTo>
                <a:lnTo>
                  <a:pt x="4714356" y="0"/>
                </a:lnTo>
                <a:lnTo>
                  <a:pt x="4714356" y="4213456"/>
                </a:lnTo>
                <a:lnTo>
                  <a:pt x="0" y="421345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9" name="Freeform 9"/>
          <p:cNvSpPr/>
          <p:nvPr/>
        </p:nvSpPr>
        <p:spPr>
          <a:xfrm flipH="1">
            <a:off x="-2654438" y="6491768"/>
            <a:ext cx="7852609" cy="5068502"/>
          </a:xfrm>
          <a:custGeom>
            <a:avLst/>
            <a:gdLst/>
            <a:ahLst/>
            <a:cxnLst/>
            <a:rect l="l" t="t" r="r" b="b"/>
            <a:pathLst>
              <a:path w="7852609" h="5068502">
                <a:moveTo>
                  <a:pt x="7852610" y="0"/>
                </a:moveTo>
                <a:lnTo>
                  <a:pt x="0" y="0"/>
                </a:lnTo>
                <a:lnTo>
                  <a:pt x="0" y="5068503"/>
                </a:lnTo>
                <a:lnTo>
                  <a:pt x="7852610" y="5068503"/>
                </a:lnTo>
                <a:lnTo>
                  <a:pt x="785261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10" name="Freeform 10"/>
          <p:cNvSpPr/>
          <p:nvPr/>
        </p:nvSpPr>
        <p:spPr>
          <a:xfrm>
            <a:off x="1712698" y="3017549"/>
            <a:ext cx="10089194" cy="5836545"/>
          </a:xfrm>
          <a:custGeom>
            <a:avLst/>
            <a:gdLst/>
            <a:ahLst/>
            <a:cxnLst/>
            <a:rect l="l" t="t" r="r" b="b"/>
            <a:pathLst>
              <a:path w="10089194" h="5836545">
                <a:moveTo>
                  <a:pt x="0" y="0"/>
                </a:moveTo>
                <a:lnTo>
                  <a:pt x="10089194" y="0"/>
                </a:lnTo>
                <a:lnTo>
                  <a:pt x="10089194" y="5836544"/>
                </a:lnTo>
                <a:lnTo>
                  <a:pt x="0" y="583654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11" name="Freeform 11"/>
          <p:cNvSpPr/>
          <p:nvPr/>
        </p:nvSpPr>
        <p:spPr>
          <a:xfrm>
            <a:off x="12503862" y="4743207"/>
            <a:ext cx="5116787" cy="1368562"/>
          </a:xfrm>
          <a:custGeom>
            <a:avLst/>
            <a:gdLst/>
            <a:ahLst/>
            <a:cxnLst/>
            <a:rect l="l" t="t" r="r" b="b"/>
            <a:pathLst>
              <a:path w="5116787" h="1368562">
                <a:moveTo>
                  <a:pt x="0" y="0"/>
                </a:moveTo>
                <a:lnTo>
                  <a:pt x="5116787" y="0"/>
                </a:lnTo>
                <a:lnTo>
                  <a:pt x="5116787" y="1368562"/>
                </a:lnTo>
                <a:lnTo>
                  <a:pt x="0" y="1368562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6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871029" y="847237"/>
            <a:ext cx="6545941" cy="8953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641"/>
              </a:lnSpc>
            </a:pPr>
            <a:r>
              <a:rPr lang="en-US" sz="6846" dirty="0">
                <a:solidFill>
                  <a:srgbClr val="3D3B3B"/>
                </a:solidFill>
                <a:latin typeface="Alfa Slab One"/>
                <a:ea typeface="Alfa Slab One"/>
                <a:cs typeface="Alfa Slab One"/>
                <a:sym typeface="Alfa Slab One"/>
              </a:rPr>
              <a:t>GitHub</a:t>
            </a:r>
          </a:p>
        </p:txBody>
      </p:sp>
      <p:sp>
        <p:nvSpPr>
          <p:cNvPr id="3" name="Freeform 3"/>
          <p:cNvSpPr/>
          <p:nvPr/>
        </p:nvSpPr>
        <p:spPr>
          <a:xfrm>
            <a:off x="16152962" y="3086100"/>
            <a:ext cx="4270075" cy="4114800"/>
          </a:xfrm>
          <a:custGeom>
            <a:avLst/>
            <a:gdLst/>
            <a:ahLst/>
            <a:cxnLst/>
            <a:rect l="l" t="t" r="r" b="b"/>
            <a:pathLst>
              <a:path w="4270075" h="4114800">
                <a:moveTo>
                  <a:pt x="0" y="0"/>
                </a:moveTo>
                <a:lnTo>
                  <a:pt x="4270076" y="0"/>
                </a:lnTo>
                <a:lnTo>
                  <a:pt x="4270076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31999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4" name="Freeform 4"/>
          <p:cNvSpPr/>
          <p:nvPr/>
        </p:nvSpPr>
        <p:spPr>
          <a:xfrm>
            <a:off x="13801214" y="5821517"/>
            <a:ext cx="7301792" cy="6873566"/>
          </a:xfrm>
          <a:custGeom>
            <a:avLst/>
            <a:gdLst/>
            <a:ahLst/>
            <a:cxnLst/>
            <a:rect l="l" t="t" r="r" b="b"/>
            <a:pathLst>
              <a:path w="7301792" h="6873566">
                <a:moveTo>
                  <a:pt x="0" y="0"/>
                </a:moveTo>
                <a:lnTo>
                  <a:pt x="7301792" y="0"/>
                </a:lnTo>
                <a:lnTo>
                  <a:pt x="7301792" y="6873566"/>
                </a:lnTo>
                <a:lnTo>
                  <a:pt x="0" y="687356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5" name="Freeform 5"/>
          <p:cNvSpPr/>
          <p:nvPr/>
        </p:nvSpPr>
        <p:spPr>
          <a:xfrm>
            <a:off x="-2287391" y="3086100"/>
            <a:ext cx="4270075" cy="4114800"/>
          </a:xfrm>
          <a:custGeom>
            <a:avLst/>
            <a:gdLst/>
            <a:ahLst/>
            <a:cxnLst/>
            <a:rect l="l" t="t" r="r" b="b"/>
            <a:pathLst>
              <a:path w="4270075" h="4114800">
                <a:moveTo>
                  <a:pt x="0" y="0"/>
                </a:moveTo>
                <a:lnTo>
                  <a:pt x="4270076" y="0"/>
                </a:lnTo>
                <a:lnTo>
                  <a:pt x="4270076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31999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6" name="Freeform 6"/>
          <p:cNvSpPr/>
          <p:nvPr/>
        </p:nvSpPr>
        <p:spPr>
          <a:xfrm flipH="1">
            <a:off x="6098240" y="8617399"/>
            <a:ext cx="6091520" cy="4911288"/>
          </a:xfrm>
          <a:custGeom>
            <a:avLst/>
            <a:gdLst/>
            <a:ahLst/>
            <a:cxnLst/>
            <a:rect l="l" t="t" r="r" b="b"/>
            <a:pathLst>
              <a:path w="6091520" h="4911288">
                <a:moveTo>
                  <a:pt x="6091520" y="0"/>
                </a:moveTo>
                <a:lnTo>
                  <a:pt x="0" y="0"/>
                </a:lnTo>
                <a:lnTo>
                  <a:pt x="0" y="4911287"/>
                </a:lnTo>
                <a:lnTo>
                  <a:pt x="6091520" y="4911287"/>
                </a:lnTo>
                <a:lnTo>
                  <a:pt x="609152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7" name="Freeform 7"/>
          <p:cNvSpPr/>
          <p:nvPr/>
        </p:nvSpPr>
        <p:spPr>
          <a:xfrm flipH="1">
            <a:off x="177662" y="-960149"/>
            <a:ext cx="4450570" cy="3977697"/>
          </a:xfrm>
          <a:custGeom>
            <a:avLst/>
            <a:gdLst/>
            <a:ahLst/>
            <a:cxnLst/>
            <a:rect l="l" t="t" r="r" b="b"/>
            <a:pathLst>
              <a:path w="4450570" h="3977697">
                <a:moveTo>
                  <a:pt x="4450570" y="0"/>
                </a:moveTo>
                <a:lnTo>
                  <a:pt x="0" y="0"/>
                </a:lnTo>
                <a:lnTo>
                  <a:pt x="0" y="3977698"/>
                </a:lnTo>
                <a:lnTo>
                  <a:pt x="4450570" y="3977698"/>
                </a:lnTo>
                <a:lnTo>
                  <a:pt x="445057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8" name="Freeform 8"/>
          <p:cNvSpPr/>
          <p:nvPr/>
        </p:nvSpPr>
        <p:spPr>
          <a:xfrm>
            <a:off x="13374336" y="-811829"/>
            <a:ext cx="4714356" cy="4213456"/>
          </a:xfrm>
          <a:custGeom>
            <a:avLst/>
            <a:gdLst/>
            <a:ahLst/>
            <a:cxnLst/>
            <a:rect l="l" t="t" r="r" b="b"/>
            <a:pathLst>
              <a:path w="4714356" h="4213456">
                <a:moveTo>
                  <a:pt x="0" y="0"/>
                </a:moveTo>
                <a:lnTo>
                  <a:pt x="4714356" y="0"/>
                </a:lnTo>
                <a:lnTo>
                  <a:pt x="4714356" y="4213456"/>
                </a:lnTo>
                <a:lnTo>
                  <a:pt x="0" y="421345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9" name="Freeform 9"/>
          <p:cNvSpPr/>
          <p:nvPr/>
        </p:nvSpPr>
        <p:spPr>
          <a:xfrm flipH="1">
            <a:off x="-2654438" y="6491768"/>
            <a:ext cx="7852609" cy="5068502"/>
          </a:xfrm>
          <a:custGeom>
            <a:avLst/>
            <a:gdLst/>
            <a:ahLst/>
            <a:cxnLst/>
            <a:rect l="l" t="t" r="r" b="b"/>
            <a:pathLst>
              <a:path w="7852609" h="5068502">
                <a:moveTo>
                  <a:pt x="7852610" y="0"/>
                </a:moveTo>
                <a:lnTo>
                  <a:pt x="0" y="0"/>
                </a:lnTo>
                <a:lnTo>
                  <a:pt x="0" y="5068503"/>
                </a:lnTo>
                <a:lnTo>
                  <a:pt x="7852610" y="5068503"/>
                </a:lnTo>
                <a:lnTo>
                  <a:pt x="785261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pic>
        <p:nvPicPr>
          <p:cNvPr id="12" name="Imagen 11">
            <a:extLst>
              <a:ext uri="{FF2B5EF4-FFF2-40B4-BE49-F238E27FC236}">
                <a16:creationId xmlns:a16="http://schemas.microsoft.com/office/drawing/2014/main" id="{901AF322-6120-CC96-60B3-7590A07BD14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09297" y="1776412"/>
            <a:ext cx="5869403" cy="673417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113</Words>
  <Application>Microsoft Office PowerPoint</Application>
  <PresentationFormat>Personalizado</PresentationFormat>
  <Paragraphs>18</Paragraphs>
  <Slides>6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6</vt:i4>
      </vt:variant>
    </vt:vector>
  </HeadingPairs>
  <TitlesOfParts>
    <vt:vector size="12" baseType="lpstr">
      <vt:lpstr>Hind Jalandhar</vt:lpstr>
      <vt:lpstr>Arial</vt:lpstr>
      <vt:lpstr>Alfa Slab One</vt:lpstr>
      <vt:lpstr>Hind Jalandhar Bold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Brown Black Modern Industrial Coal Mining Group Project Presentation</dc:title>
  <dc:creator>Andrea</dc:creator>
  <cp:lastModifiedBy>Abraham Pradenas Ruz (Alumno)</cp:lastModifiedBy>
  <cp:revision>3</cp:revision>
  <dcterms:created xsi:type="dcterms:W3CDTF">2006-08-16T00:00:00Z</dcterms:created>
  <dcterms:modified xsi:type="dcterms:W3CDTF">2026-08-30T23:41:21Z</dcterms:modified>
  <dc:identifier>DAHTsf-Ffx4</dc:identifier>
</cp:coreProperties>
</file>